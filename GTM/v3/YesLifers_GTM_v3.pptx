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777240" y="1113790"/>
            <a:ext cx="7589520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400" sz="48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YES LIFERS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77240" y="2001872"/>
            <a:ext cx="75895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>
                <a:solidFill>
                  <a:srgbClr val="FAF8F0"/>
                </a:solidFill>
              </a:defRPr>
            </a:lvl1pPr>
          </a:lstStyle>
          <a:p>
            <a:pPr/>
            <a:r>
              <a:t>Go-To-Market Roadmap v3.0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77240" y="2648520"/>
            <a:ext cx="75895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7A8B7A"/>
                </a:solidFill>
              </a:defRPr>
            </a:lvl1pPr>
          </a:lstStyle>
          <a:p>
            <a:pPr/>
            <a:r>
              <a:t>May – October 2026  ·  House of Alpha  ·  Confidential</a:t>
            </a:r>
          </a:p>
        </p:txBody>
      </p:sp>
      <p:sp>
        <p:nvSpPr>
          <p:cNvPr id="24" name="Shape 4"/>
          <p:cNvSpPr/>
          <p:nvPr/>
        </p:nvSpPr>
        <p:spPr>
          <a:xfrm>
            <a:off x="0" y="5088635"/>
            <a:ext cx="9144000" cy="54865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777240" y="4085589"/>
            <a:ext cx="758952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6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Say Yes to Life!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777240" y="584199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7A8B7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THESIS</a:t>
            </a:r>
          </a:p>
        </p:txBody>
      </p:sp>
      <p:sp>
        <p:nvSpPr>
          <p:cNvPr id="28" name="Shape 1"/>
          <p:cNvSpPr/>
          <p:nvPr/>
        </p:nvSpPr>
        <p:spPr>
          <a:xfrm>
            <a:off x="731520" y="1097280"/>
            <a:ext cx="7680960" cy="36577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2"/>
          <p:cNvSpPr/>
          <p:nvPr/>
        </p:nvSpPr>
        <p:spPr>
          <a:xfrm>
            <a:off x="731519" y="1463039"/>
            <a:ext cx="502922" cy="502921"/>
          </a:xfrm>
          <a:prstGeom prst="ellipse">
            <a:avLst/>
          </a:prstGeom>
          <a:solidFill>
            <a:srgbClr val="1A3C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3"/>
          <p:cNvSpPr txBox="1"/>
          <p:nvPr/>
        </p:nvSpPr>
        <p:spPr>
          <a:xfrm>
            <a:off x="777239" y="1529079"/>
            <a:ext cx="41148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1508760" y="1391919"/>
            <a:ext cx="667512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 tribe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1508760" y="1734120"/>
            <a:ext cx="66751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2D2D2D"/>
                </a:solidFill>
              </a:defRPr>
            </a:lvl1pPr>
          </a:lstStyle>
          <a:p>
            <a:pPr/>
            <a:r>
              <a:t>Community before product. Identity before features.</a:t>
            </a:r>
          </a:p>
        </p:txBody>
      </p:sp>
      <p:sp>
        <p:nvSpPr>
          <p:cNvPr id="33" name="Shape 6"/>
          <p:cNvSpPr/>
          <p:nvPr/>
        </p:nvSpPr>
        <p:spPr>
          <a:xfrm>
            <a:off x="731519" y="2560320"/>
            <a:ext cx="502922" cy="502921"/>
          </a:xfrm>
          <a:prstGeom prst="ellipse">
            <a:avLst/>
          </a:prstGeom>
          <a:solidFill>
            <a:srgbClr val="1A3C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7"/>
          <p:cNvSpPr txBox="1"/>
          <p:nvPr/>
        </p:nvSpPr>
        <p:spPr>
          <a:xfrm>
            <a:off x="777239" y="2626359"/>
            <a:ext cx="41148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1508760" y="2489200"/>
            <a:ext cx="667512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Earn the trust</a:t>
            </a:r>
          </a:p>
        </p:txBody>
      </p:sp>
      <p:sp>
        <p:nvSpPr>
          <p:cNvPr id="36" name="Text 9"/>
          <p:cNvSpPr txBox="1"/>
          <p:nvPr/>
        </p:nvSpPr>
        <p:spPr>
          <a:xfrm>
            <a:off x="1508760" y="2831400"/>
            <a:ext cx="66751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2D2D2D"/>
                </a:solidFill>
              </a:defRPr>
            </a:lvl1pPr>
          </a:lstStyle>
          <a:p>
            <a:pPr/>
            <a:r>
              <a:t>Content, rituals, and shared decisions — not ads.</a:t>
            </a:r>
          </a:p>
        </p:txBody>
      </p:sp>
      <p:sp>
        <p:nvSpPr>
          <p:cNvPr id="37" name="Shape 10"/>
          <p:cNvSpPr/>
          <p:nvPr/>
        </p:nvSpPr>
        <p:spPr>
          <a:xfrm>
            <a:off x="731519" y="3657600"/>
            <a:ext cx="502922" cy="502921"/>
          </a:xfrm>
          <a:prstGeom prst="ellipse">
            <a:avLst/>
          </a:prstGeom>
          <a:solidFill>
            <a:srgbClr val="1A3C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1"/>
          <p:cNvSpPr txBox="1"/>
          <p:nvPr/>
        </p:nvSpPr>
        <p:spPr>
          <a:xfrm>
            <a:off x="777239" y="3723639"/>
            <a:ext cx="41148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" name="Text 12"/>
          <p:cNvSpPr txBox="1"/>
          <p:nvPr/>
        </p:nvSpPr>
        <p:spPr>
          <a:xfrm>
            <a:off x="1508760" y="3586479"/>
            <a:ext cx="667512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Hand them the tool</a:t>
            </a:r>
          </a:p>
        </p:txBody>
      </p:sp>
      <p:sp>
        <p:nvSpPr>
          <p:cNvPr id="40" name="Text 13"/>
          <p:cNvSpPr txBox="1"/>
          <p:nvPr/>
        </p:nvSpPr>
        <p:spPr>
          <a:xfrm>
            <a:off x="1508760" y="3928680"/>
            <a:ext cx="66751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2D2D2D"/>
                </a:solidFill>
              </a:defRPr>
            </a:lvl1pPr>
          </a:lstStyle>
          <a:p>
            <a:pPr/>
            <a:r>
              <a:t>The app arrives into a warmed, pre-sold audience.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777240" y="447039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BEACHHEAD</a:t>
            </a:r>
          </a:p>
        </p:txBody>
      </p:sp>
      <p:sp>
        <p:nvSpPr>
          <p:cNvPr id="43" name="Shape 1"/>
          <p:cNvSpPr/>
          <p:nvPr/>
        </p:nvSpPr>
        <p:spPr>
          <a:xfrm>
            <a:off x="731519" y="86868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2"/>
          <p:cNvSpPr/>
          <p:nvPr/>
        </p:nvSpPr>
        <p:spPr>
          <a:xfrm>
            <a:off x="548640" y="1188719"/>
            <a:ext cx="8046719" cy="2194562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Text 3"/>
          <p:cNvSpPr txBox="1"/>
          <p:nvPr/>
        </p:nvSpPr>
        <p:spPr>
          <a:xfrm>
            <a:off x="868679" y="1304290"/>
            <a:ext cx="740664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Urban Indian couples aged 38–48</a:t>
            </a:r>
          </a:p>
        </p:txBody>
      </p:sp>
      <p:sp>
        <p:nvSpPr>
          <p:cNvPr id="46" name="Text 4"/>
          <p:cNvSpPr txBox="1"/>
          <p:nvPr/>
        </p:nvSpPr>
        <p:spPr>
          <a:xfrm>
            <a:off x="868679" y="1769943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AF8F0"/>
                </a:solidFill>
              </a:defRPr>
            </a:lvl1pPr>
          </a:lstStyle>
          <a:p>
            <a:pPr/>
            <a:r>
              <a:t>Parents with teenage or near-teen children</a:t>
            </a:r>
          </a:p>
        </p:txBody>
      </p:sp>
      <p:sp>
        <p:nvSpPr>
          <p:cNvPr id="47" name="Text 5"/>
          <p:cNvSpPr txBox="1"/>
          <p:nvPr/>
        </p:nvSpPr>
        <p:spPr>
          <a:xfrm>
            <a:off x="1051559" y="2198423"/>
            <a:ext cx="7223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AF8F0"/>
                </a:solidFill>
              </a:defRPr>
            </a:lvl1pPr>
          </a:lstStyle>
          <a:p>
            <a:pPr/>
            <a:r>
              <a:t>Dual-income or financially established  ·  Tier 1 cities</a:t>
            </a:r>
          </a:p>
        </p:txBody>
      </p:sp>
      <p:sp>
        <p:nvSpPr>
          <p:cNvPr id="48" name="Text 6"/>
          <p:cNvSpPr txBox="1"/>
          <p:nvPr/>
        </p:nvSpPr>
        <p:spPr>
          <a:xfrm>
            <a:off x="1051559" y="2472743"/>
            <a:ext cx="7223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AF8F0"/>
                </a:solidFill>
              </a:defRPr>
            </a:lvl1pPr>
          </a:lstStyle>
          <a:p>
            <a:pPr/>
            <a:r>
              <a:t>₹3L–10L/month combined  ·  Already investing (SIPs, equity, real estate)</a:t>
            </a:r>
          </a:p>
        </p:txBody>
      </p:sp>
      <p:sp>
        <p:nvSpPr>
          <p:cNvPr id="49" name="Text 7"/>
          <p:cNvSpPr txBox="1"/>
          <p:nvPr/>
        </p:nvSpPr>
        <p:spPr>
          <a:xfrm>
            <a:off x="1051559" y="2747063"/>
            <a:ext cx="7223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AF8F0"/>
                </a:solidFill>
              </a:defRPr>
            </a:lvl1pPr>
          </a:lstStyle>
          <a:p>
            <a:pPr/>
            <a:r>
              <a:t>Juggling education, parents, retirement, career, and deferred dreams</a:t>
            </a:r>
          </a:p>
        </p:txBody>
      </p:sp>
      <p:sp>
        <p:nvSpPr>
          <p:cNvPr id="50" name="Text 8"/>
          <p:cNvSpPr txBox="1"/>
          <p:nvPr/>
        </p:nvSpPr>
        <p:spPr>
          <a:xfrm>
            <a:off x="1051559" y="3021383"/>
            <a:ext cx="7223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AF8F0"/>
                </a:solidFill>
              </a:defRPr>
            </a:lvl1pPr>
          </a:lstStyle>
          <a:p>
            <a:pPr/>
            <a:r>
              <a:t>Have done every right thing financially — but don't feel calm or clear</a:t>
            </a:r>
          </a:p>
        </p:txBody>
      </p:sp>
      <p:sp>
        <p:nvSpPr>
          <p:cNvPr id="51" name="Text 9"/>
          <p:cNvSpPr txBox="1"/>
          <p:nvPr/>
        </p:nvSpPr>
        <p:spPr>
          <a:xfrm>
            <a:off x="868679" y="3585780"/>
            <a:ext cx="74066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7A8B7A"/>
                </a:solidFill>
              </a:defRPr>
            </a:lvl1pPr>
          </a:lstStyle>
          <a:p>
            <a:pPr/>
            <a:r>
              <a:t>Not asking "How do I optimise my money?"</a:t>
            </a:r>
          </a:p>
        </p:txBody>
      </p:sp>
      <p:sp>
        <p:nvSpPr>
          <p:cNvPr id="52" name="Text 10"/>
          <p:cNvSpPr txBox="1"/>
          <p:nvPr/>
        </p:nvSpPr>
        <p:spPr>
          <a:xfrm>
            <a:off x="868679" y="3902709"/>
            <a:ext cx="740664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6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Asking "How do we make meaningful life decisions without guilt?"</a:t>
            </a:r>
          </a:p>
        </p:txBody>
      </p:sp>
      <p:sp>
        <p:nvSpPr>
          <p:cNvPr id="53" name="Text 11"/>
          <p:cNvSpPr txBox="1"/>
          <p:nvPr/>
        </p:nvSpPr>
        <p:spPr>
          <a:xfrm>
            <a:off x="868679" y="4459146"/>
            <a:ext cx="74066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7A8B7A"/>
                </a:solidFill>
              </a:defRPr>
            </a:lvl1pPr>
          </a:lstStyle>
          <a:p>
            <a:pPr/>
            <a:r>
              <a:t>Phase 2 expansion: younger professionals &amp; couples (28–38) — the audience that aspires to become the wedge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 txBox="1"/>
          <p:nvPr/>
        </p:nvSpPr>
        <p:spPr>
          <a:xfrm>
            <a:off x="777240" y="447039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7A8B7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WHY THIS WEDGE</a:t>
            </a:r>
          </a:p>
        </p:txBody>
      </p:sp>
      <p:sp>
        <p:nvSpPr>
          <p:cNvPr id="56" name="Shape 1"/>
          <p:cNvSpPr/>
          <p:nvPr/>
        </p:nvSpPr>
        <p:spPr>
          <a:xfrm>
            <a:off x="731519" y="86868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2"/>
          <p:cNvSpPr/>
          <p:nvPr/>
        </p:nvSpPr>
        <p:spPr>
          <a:xfrm>
            <a:off x="548640" y="1097280"/>
            <a:ext cx="8046719" cy="53035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Shape 3"/>
          <p:cNvSpPr/>
          <p:nvPr/>
        </p:nvSpPr>
        <p:spPr>
          <a:xfrm>
            <a:off x="548640" y="1097280"/>
            <a:ext cx="54865" cy="530352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4"/>
          <p:cNvSpPr txBox="1"/>
          <p:nvPr/>
        </p:nvSpPr>
        <p:spPr>
          <a:xfrm>
            <a:off x="822960" y="1227835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Pain intensity</a:t>
            </a:r>
          </a:p>
        </p:txBody>
      </p:sp>
      <p:sp>
        <p:nvSpPr>
          <p:cNvPr id="60" name="Text 5"/>
          <p:cNvSpPr txBox="1"/>
          <p:nvPr/>
        </p:nvSpPr>
        <p:spPr>
          <a:xfrm>
            <a:off x="2880359" y="1249602"/>
            <a:ext cx="5486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Accumulated responsibility — duty vs desire. Every decision feels loaded.</a:t>
            </a:r>
          </a:p>
        </p:txBody>
      </p:sp>
      <p:sp>
        <p:nvSpPr>
          <p:cNvPr id="61" name="Shape 6"/>
          <p:cNvSpPr/>
          <p:nvPr/>
        </p:nvSpPr>
        <p:spPr>
          <a:xfrm>
            <a:off x="548640" y="1719072"/>
            <a:ext cx="8046719" cy="530352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" name="Shape 7"/>
          <p:cNvSpPr/>
          <p:nvPr/>
        </p:nvSpPr>
        <p:spPr>
          <a:xfrm>
            <a:off x="548640" y="1719072"/>
            <a:ext cx="54865" cy="530352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8"/>
          <p:cNvSpPr txBox="1"/>
          <p:nvPr/>
        </p:nvSpPr>
        <p:spPr>
          <a:xfrm>
            <a:off x="822960" y="1849628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Identity readiness</a:t>
            </a:r>
          </a:p>
        </p:txBody>
      </p:sp>
      <p:sp>
        <p:nvSpPr>
          <p:cNvPr id="64" name="Text 9"/>
          <p:cNvSpPr txBox="1"/>
          <p:nvPr/>
        </p:nvSpPr>
        <p:spPr>
          <a:xfrm>
            <a:off x="2880359" y="1871394"/>
            <a:ext cx="5486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Want permission to reclaim life after years of doing the right thing.</a:t>
            </a:r>
          </a:p>
        </p:txBody>
      </p:sp>
      <p:sp>
        <p:nvSpPr>
          <p:cNvPr id="65" name="Shape 10"/>
          <p:cNvSpPr/>
          <p:nvPr/>
        </p:nvSpPr>
        <p:spPr>
          <a:xfrm>
            <a:off x="548640" y="2340864"/>
            <a:ext cx="8046719" cy="5303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11"/>
          <p:cNvSpPr/>
          <p:nvPr/>
        </p:nvSpPr>
        <p:spPr>
          <a:xfrm>
            <a:off x="548640" y="2340864"/>
            <a:ext cx="54865" cy="53035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2"/>
          <p:cNvSpPr txBox="1"/>
          <p:nvPr/>
        </p:nvSpPr>
        <p:spPr>
          <a:xfrm>
            <a:off x="822960" y="2471420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Founder credibility</a:t>
            </a:r>
          </a:p>
        </p:txBody>
      </p:sp>
      <p:sp>
        <p:nvSpPr>
          <p:cNvPr id="68" name="Text 13"/>
          <p:cNvSpPr txBox="1"/>
          <p:nvPr/>
        </p:nvSpPr>
        <p:spPr>
          <a:xfrm>
            <a:off x="2880359" y="2493186"/>
            <a:ext cx="54864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Closest to HoA's actual advisory client base. Authentic, not aspirational.</a:t>
            </a:r>
          </a:p>
        </p:txBody>
      </p:sp>
      <p:sp>
        <p:nvSpPr>
          <p:cNvPr id="69" name="Shape 14"/>
          <p:cNvSpPr/>
          <p:nvPr/>
        </p:nvSpPr>
        <p:spPr>
          <a:xfrm>
            <a:off x="548640" y="2962655"/>
            <a:ext cx="8046719" cy="530353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15"/>
          <p:cNvSpPr/>
          <p:nvPr/>
        </p:nvSpPr>
        <p:spPr>
          <a:xfrm>
            <a:off x="548640" y="2962655"/>
            <a:ext cx="54865" cy="53035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6"/>
          <p:cNvSpPr txBox="1"/>
          <p:nvPr/>
        </p:nvSpPr>
        <p:spPr>
          <a:xfrm>
            <a:off x="822960" y="3093212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Distribution density</a:t>
            </a:r>
          </a:p>
        </p:txBody>
      </p:sp>
      <p:sp>
        <p:nvSpPr>
          <p:cNvPr id="72" name="Text 17"/>
          <p:cNvSpPr txBox="1"/>
          <p:nvPr/>
        </p:nvSpPr>
        <p:spPr>
          <a:xfrm>
            <a:off x="2880359" y="3114978"/>
            <a:ext cx="5486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LinkedIn, school parent networks, corporate wellness. Parents refer parents.</a:t>
            </a:r>
          </a:p>
        </p:txBody>
      </p:sp>
      <p:sp>
        <p:nvSpPr>
          <p:cNvPr id="73" name="Shape 18"/>
          <p:cNvSpPr/>
          <p:nvPr/>
        </p:nvSpPr>
        <p:spPr>
          <a:xfrm>
            <a:off x="548640" y="3584447"/>
            <a:ext cx="8046719" cy="5303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" name="Shape 19"/>
          <p:cNvSpPr/>
          <p:nvPr/>
        </p:nvSpPr>
        <p:spPr>
          <a:xfrm>
            <a:off x="548640" y="3584447"/>
            <a:ext cx="54865" cy="53035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0"/>
          <p:cNvSpPr txBox="1"/>
          <p:nvPr/>
        </p:nvSpPr>
        <p:spPr>
          <a:xfrm>
            <a:off x="822960" y="3715003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Willingness to pay</a:t>
            </a:r>
          </a:p>
        </p:txBody>
      </p:sp>
      <p:sp>
        <p:nvSpPr>
          <p:cNvPr id="76" name="Text 21"/>
          <p:cNvSpPr txBox="1"/>
          <p:nvPr/>
        </p:nvSpPr>
        <p:spPr>
          <a:xfrm>
            <a:off x="2880359" y="3736770"/>
            <a:ext cx="5486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Trivial at this income. Higher advisory conversion due to genuine complexity.</a:t>
            </a:r>
          </a:p>
        </p:txBody>
      </p:sp>
      <p:sp>
        <p:nvSpPr>
          <p:cNvPr id="77" name="Shape 22"/>
          <p:cNvSpPr/>
          <p:nvPr/>
        </p:nvSpPr>
        <p:spPr>
          <a:xfrm>
            <a:off x="548640" y="4206240"/>
            <a:ext cx="8046719" cy="530353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Shape 23"/>
          <p:cNvSpPr/>
          <p:nvPr/>
        </p:nvSpPr>
        <p:spPr>
          <a:xfrm>
            <a:off x="548640" y="4206240"/>
            <a:ext cx="54865" cy="53035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4"/>
          <p:cNvSpPr txBox="1"/>
          <p:nvPr/>
        </p:nvSpPr>
        <p:spPr>
          <a:xfrm>
            <a:off x="822960" y="4336796"/>
            <a:ext cx="192024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Decision urgency</a:t>
            </a:r>
          </a:p>
        </p:txBody>
      </p:sp>
      <p:sp>
        <p:nvSpPr>
          <p:cNvPr id="80" name="Text 25"/>
          <p:cNvSpPr txBox="1"/>
          <p:nvPr/>
        </p:nvSpPr>
        <p:spPr>
          <a:xfrm>
            <a:off x="2880359" y="4358562"/>
            <a:ext cx="54864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Education funding + retirement + aging parents — simultaneous, non-deferrable.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777240" y="447039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LEAD MESSAGES</a:t>
            </a:r>
          </a:p>
        </p:txBody>
      </p:sp>
      <p:sp>
        <p:nvSpPr>
          <p:cNvPr id="83" name="Shape 1"/>
          <p:cNvSpPr/>
          <p:nvPr/>
        </p:nvSpPr>
        <p:spPr>
          <a:xfrm>
            <a:off x="731519" y="86868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2"/>
          <p:cNvSpPr/>
          <p:nvPr/>
        </p:nvSpPr>
        <p:spPr>
          <a:xfrm>
            <a:off x="548640" y="1097280"/>
            <a:ext cx="8046719" cy="758953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" name="Text 3"/>
          <p:cNvSpPr txBox="1"/>
          <p:nvPr/>
        </p:nvSpPr>
        <p:spPr>
          <a:xfrm>
            <a:off x="868680" y="1143000"/>
            <a:ext cx="17373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Responsibility ≠ clarity</a:t>
            </a:r>
          </a:p>
        </p:txBody>
      </p:sp>
      <p:sp>
        <p:nvSpPr>
          <p:cNvPr id="86" name="Text 4"/>
          <p:cNvSpPr txBox="1"/>
          <p:nvPr/>
        </p:nvSpPr>
        <p:spPr>
          <a:xfrm>
            <a:off x="868679" y="1440941"/>
            <a:ext cx="740664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FAF8F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"You've been responsible for 15 years. When did you last ask what it's all for?"</a:t>
            </a:r>
          </a:p>
        </p:txBody>
      </p:sp>
      <p:sp>
        <p:nvSpPr>
          <p:cNvPr id="87" name="Shape 5"/>
          <p:cNvSpPr/>
          <p:nvPr/>
        </p:nvSpPr>
        <p:spPr>
          <a:xfrm>
            <a:off x="548640" y="1993392"/>
            <a:ext cx="8046719" cy="758953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Text 6"/>
          <p:cNvSpPr txBox="1"/>
          <p:nvPr/>
        </p:nvSpPr>
        <p:spPr>
          <a:xfrm>
            <a:off x="868680" y="2039111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Competing timelines</a:t>
            </a:r>
          </a:p>
        </p:txBody>
      </p:sp>
      <p:sp>
        <p:nvSpPr>
          <p:cNvPr id="89" name="Text 7"/>
          <p:cNvSpPr txBox="1"/>
          <p:nvPr/>
        </p:nvSpPr>
        <p:spPr>
          <a:xfrm>
            <a:off x="868679" y="2241803"/>
            <a:ext cx="74066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FAF8F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"Your child's board exams and your retirement land in the same decade. Have you planned for both?"</a:t>
            </a:r>
          </a:p>
        </p:txBody>
      </p:sp>
      <p:sp>
        <p:nvSpPr>
          <p:cNvPr id="90" name="Shape 8"/>
          <p:cNvSpPr/>
          <p:nvPr/>
        </p:nvSpPr>
        <p:spPr>
          <a:xfrm>
            <a:off x="548640" y="2889504"/>
            <a:ext cx="8046719" cy="758953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" name="Text 9"/>
          <p:cNvSpPr txBox="1"/>
          <p:nvPr/>
        </p:nvSpPr>
        <p:spPr>
          <a:xfrm>
            <a:off x="868680" y="2935223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Deferred living</a:t>
            </a:r>
          </a:p>
        </p:txBody>
      </p:sp>
      <p:sp>
        <p:nvSpPr>
          <p:cNvPr id="92" name="Text 10"/>
          <p:cNvSpPr txBox="1"/>
          <p:nvPr/>
        </p:nvSpPr>
        <p:spPr>
          <a:xfrm>
            <a:off x="868679" y="3233165"/>
            <a:ext cx="740664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FAF8F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"You delayed that trip again. Not because you can't afford it — because it felt irresponsible."</a:t>
            </a:r>
          </a:p>
        </p:txBody>
      </p:sp>
      <p:sp>
        <p:nvSpPr>
          <p:cNvPr id="93" name="Shape 11"/>
          <p:cNvSpPr/>
          <p:nvPr/>
        </p:nvSpPr>
        <p:spPr>
          <a:xfrm>
            <a:off x="548640" y="3785615"/>
            <a:ext cx="8046719" cy="758953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" name="Text 12"/>
          <p:cNvSpPr txBox="1"/>
          <p:nvPr/>
        </p:nvSpPr>
        <p:spPr>
          <a:xfrm>
            <a:off x="868680" y="3831335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Duty vs desire</a:t>
            </a:r>
          </a:p>
        </p:txBody>
      </p:sp>
      <p:sp>
        <p:nvSpPr>
          <p:cNvPr id="95" name="Text 13"/>
          <p:cNvSpPr txBox="1"/>
          <p:nvPr/>
        </p:nvSpPr>
        <p:spPr>
          <a:xfrm>
            <a:off x="868679" y="4129277"/>
            <a:ext cx="740664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FAF8F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"You don't have to choose between being a responsible parent and living a meaningful life."</a:t>
            </a:r>
          </a:p>
        </p:txBody>
      </p:sp>
      <p:sp>
        <p:nvSpPr>
          <p:cNvPr id="96" name="Text 14"/>
          <p:cNvSpPr txBox="1"/>
          <p:nvPr/>
        </p:nvSpPr>
        <p:spPr>
          <a:xfrm>
            <a:off x="777240" y="4732064"/>
            <a:ext cx="75895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7A8B7A"/>
                </a:solidFill>
              </a:defRPr>
            </a:lvl1pPr>
          </a:lstStyle>
          <a:p>
            <a:pPr/>
            <a:r>
              <a:t>Tone: stabilising, warm, permission-giving. Not "live your best life." More like "you've carried a lot — let's bring clarity to what comes next."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 txBox="1"/>
          <p:nvPr/>
        </p:nvSpPr>
        <p:spPr>
          <a:xfrm>
            <a:off x="777240" y="355599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7A8B7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TIMELINE</a:t>
            </a:r>
          </a:p>
        </p:txBody>
      </p:sp>
      <p:sp>
        <p:nvSpPr>
          <p:cNvPr id="99" name="Shape 1"/>
          <p:cNvSpPr/>
          <p:nvPr/>
        </p:nvSpPr>
        <p:spPr>
          <a:xfrm>
            <a:off x="731519" y="749808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2"/>
          <p:cNvSpPr/>
          <p:nvPr/>
        </p:nvSpPr>
        <p:spPr>
          <a:xfrm>
            <a:off x="548640" y="1645920"/>
            <a:ext cx="8046719" cy="73153"/>
          </a:xfrm>
          <a:prstGeom prst="rect">
            <a:avLst/>
          </a:prstGeom>
          <a:solidFill>
            <a:srgbClr val="1A3C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3"/>
          <p:cNvSpPr/>
          <p:nvPr/>
        </p:nvSpPr>
        <p:spPr>
          <a:xfrm>
            <a:off x="1261872" y="1572767"/>
            <a:ext cx="219456" cy="219457"/>
          </a:xfrm>
          <a:prstGeom prst="ellipse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4"/>
          <p:cNvSpPr txBox="1"/>
          <p:nvPr/>
        </p:nvSpPr>
        <p:spPr>
          <a:xfrm>
            <a:off x="594359" y="1041400"/>
            <a:ext cx="155448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0</a:t>
            </a:r>
          </a:p>
        </p:txBody>
      </p:sp>
      <p:sp>
        <p:nvSpPr>
          <p:cNvPr id="103" name="Text 5"/>
          <p:cNvSpPr txBox="1"/>
          <p:nvPr/>
        </p:nvSpPr>
        <p:spPr>
          <a:xfrm>
            <a:off x="594359" y="1298447"/>
            <a:ext cx="1554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Foundation</a:t>
            </a:r>
          </a:p>
        </p:txBody>
      </p:sp>
      <p:sp>
        <p:nvSpPr>
          <p:cNvPr id="104" name="Text 6"/>
          <p:cNvSpPr txBox="1"/>
          <p:nvPr/>
        </p:nvSpPr>
        <p:spPr>
          <a:xfrm>
            <a:off x="594359" y="1920239"/>
            <a:ext cx="1554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May</a:t>
            </a:r>
          </a:p>
        </p:txBody>
      </p:sp>
      <p:sp>
        <p:nvSpPr>
          <p:cNvPr id="105" name="Shape 7"/>
          <p:cNvSpPr/>
          <p:nvPr/>
        </p:nvSpPr>
        <p:spPr>
          <a:xfrm>
            <a:off x="3639311" y="1572767"/>
            <a:ext cx="219457" cy="219457"/>
          </a:xfrm>
          <a:prstGeom prst="ellipse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8"/>
          <p:cNvSpPr txBox="1"/>
          <p:nvPr/>
        </p:nvSpPr>
        <p:spPr>
          <a:xfrm>
            <a:off x="2331719" y="1041400"/>
            <a:ext cx="283464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107" name="Text 9"/>
          <p:cNvSpPr txBox="1"/>
          <p:nvPr/>
        </p:nvSpPr>
        <p:spPr>
          <a:xfrm>
            <a:off x="2331719" y="1298447"/>
            <a:ext cx="28346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Community Build</a:t>
            </a:r>
          </a:p>
        </p:txBody>
      </p:sp>
      <p:sp>
        <p:nvSpPr>
          <p:cNvPr id="108" name="Text 10"/>
          <p:cNvSpPr txBox="1"/>
          <p:nvPr/>
        </p:nvSpPr>
        <p:spPr>
          <a:xfrm>
            <a:off x="2331719" y="1920239"/>
            <a:ext cx="28346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Jun–Aug</a:t>
            </a:r>
          </a:p>
        </p:txBody>
      </p:sp>
      <p:sp>
        <p:nvSpPr>
          <p:cNvPr id="109" name="Shape 11"/>
          <p:cNvSpPr/>
          <p:nvPr/>
        </p:nvSpPr>
        <p:spPr>
          <a:xfrm>
            <a:off x="6108191" y="1572767"/>
            <a:ext cx="219457" cy="219457"/>
          </a:xfrm>
          <a:prstGeom prst="ellipse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2"/>
          <p:cNvSpPr txBox="1"/>
          <p:nvPr/>
        </p:nvSpPr>
        <p:spPr>
          <a:xfrm>
            <a:off x="5349240" y="1041400"/>
            <a:ext cx="17373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111" name="Text 13"/>
          <p:cNvSpPr txBox="1"/>
          <p:nvPr/>
        </p:nvSpPr>
        <p:spPr>
          <a:xfrm>
            <a:off x="5349240" y="1298447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App Launch</a:t>
            </a:r>
          </a:p>
        </p:txBody>
      </p:sp>
      <p:sp>
        <p:nvSpPr>
          <p:cNvPr id="112" name="Text 14"/>
          <p:cNvSpPr txBox="1"/>
          <p:nvPr/>
        </p:nvSpPr>
        <p:spPr>
          <a:xfrm>
            <a:off x="5349240" y="1920239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Sep–Oct</a:t>
            </a:r>
          </a:p>
        </p:txBody>
      </p:sp>
      <p:sp>
        <p:nvSpPr>
          <p:cNvPr id="113" name="Shape 15"/>
          <p:cNvSpPr/>
          <p:nvPr/>
        </p:nvSpPr>
        <p:spPr>
          <a:xfrm>
            <a:off x="7799831" y="1572767"/>
            <a:ext cx="219457" cy="219457"/>
          </a:xfrm>
          <a:prstGeom prst="ellipse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16"/>
          <p:cNvSpPr txBox="1"/>
          <p:nvPr/>
        </p:nvSpPr>
        <p:spPr>
          <a:xfrm>
            <a:off x="7269479" y="1041400"/>
            <a:ext cx="1280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115" name="Text 17"/>
          <p:cNvSpPr txBox="1"/>
          <p:nvPr/>
        </p:nvSpPr>
        <p:spPr>
          <a:xfrm>
            <a:off x="7269479" y="1298447"/>
            <a:ext cx="12801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Scale</a:t>
            </a:r>
          </a:p>
        </p:txBody>
      </p:sp>
      <p:sp>
        <p:nvSpPr>
          <p:cNvPr id="116" name="Text 18"/>
          <p:cNvSpPr txBox="1"/>
          <p:nvPr/>
        </p:nvSpPr>
        <p:spPr>
          <a:xfrm>
            <a:off x="7269479" y="1920239"/>
            <a:ext cx="12801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Nov+</a:t>
            </a:r>
          </a:p>
        </p:txBody>
      </p:sp>
      <p:sp>
        <p:nvSpPr>
          <p:cNvPr id="117" name="Text 19"/>
          <p:cNvSpPr txBox="1"/>
          <p:nvPr/>
        </p:nvSpPr>
        <p:spPr>
          <a:xfrm>
            <a:off x="594359" y="2446064"/>
            <a:ext cx="1554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A3C34"/>
                </a:solidFill>
              </a:defRPr>
            </a:lvl1pPr>
          </a:lstStyle>
          <a:p>
            <a:pPr/>
            <a:r>
              <a:t>500 waitlist</a:t>
            </a:r>
          </a:p>
        </p:txBody>
      </p:sp>
      <p:sp>
        <p:nvSpPr>
          <p:cNvPr id="118" name="Text 20"/>
          <p:cNvSpPr txBox="1"/>
          <p:nvPr/>
        </p:nvSpPr>
        <p:spPr>
          <a:xfrm>
            <a:off x="2331719" y="2363514"/>
            <a:ext cx="28346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A3C34"/>
                </a:solidFill>
              </a:defRPr>
            </a:pPr>
            <a:r>
              <a:t>2,000 members</a:t>
            </a:r>
          </a:p>
          <a:p>
            <a:pPr algn="ctr">
              <a:defRPr sz="1000">
                <a:solidFill>
                  <a:srgbClr val="1A3C34"/>
                </a:solidFill>
              </a:defRPr>
            </a:pPr>
            <a:r>
              <a:t>20 pods active</a:t>
            </a:r>
          </a:p>
        </p:txBody>
      </p:sp>
      <p:sp>
        <p:nvSpPr>
          <p:cNvPr id="119" name="Text 21"/>
          <p:cNvSpPr txBox="1"/>
          <p:nvPr/>
        </p:nvSpPr>
        <p:spPr>
          <a:xfrm>
            <a:off x="5349240" y="2363514"/>
            <a:ext cx="173736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A3C34"/>
                </a:solidFill>
              </a:defRPr>
            </a:pPr>
            <a:r>
              <a:t>App Sep 15</a:t>
            </a:r>
          </a:p>
          <a:p>
            <a:pPr algn="ctr">
              <a:defRPr sz="1000">
                <a:solidFill>
                  <a:srgbClr val="1A3C34"/>
                </a:solidFill>
              </a:defRPr>
            </a:pPr>
            <a:r>
              <a:t>1,000 users</a:t>
            </a:r>
          </a:p>
        </p:txBody>
      </p:sp>
      <p:sp>
        <p:nvSpPr>
          <p:cNvPr id="120" name="Text 22"/>
          <p:cNvSpPr txBox="1"/>
          <p:nvPr/>
        </p:nvSpPr>
        <p:spPr>
          <a:xfrm>
            <a:off x="7269479" y="2363514"/>
            <a:ext cx="128016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A3C34"/>
                </a:solidFill>
              </a:defRPr>
            </a:pPr>
            <a:r>
              <a:t>10K community</a:t>
            </a:r>
          </a:p>
          <a:p>
            <a:pPr algn="ctr">
              <a:defRPr sz="1000">
                <a:solidFill>
                  <a:srgbClr val="1A3C34"/>
                </a:solidFill>
              </a:defRPr>
            </a:pPr>
            <a:r>
              <a:t>100 advisory</a:t>
            </a:r>
          </a:p>
        </p:txBody>
      </p:sp>
      <p:sp>
        <p:nvSpPr>
          <p:cNvPr id="121" name="Shape 23"/>
          <p:cNvSpPr/>
          <p:nvPr/>
        </p:nvSpPr>
        <p:spPr>
          <a:xfrm>
            <a:off x="548640" y="3200400"/>
            <a:ext cx="8046719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Text 24"/>
          <p:cNvSpPr txBox="1"/>
          <p:nvPr/>
        </p:nvSpPr>
        <p:spPr>
          <a:xfrm>
            <a:off x="868680" y="3265170"/>
            <a:ext cx="26517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Key dates</a:t>
            </a:r>
          </a:p>
        </p:txBody>
      </p:sp>
      <p:sp>
        <p:nvSpPr>
          <p:cNvPr id="123" name="Text 25"/>
          <p:cNvSpPr txBox="1"/>
          <p:nvPr/>
        </p:nvSpPr>
        <p:spPr>
          <a:xfrm>
            <a:off x="868679" y="3563034"/>
            <a:ext cx="74066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Week 1 (May):  Brand + landing page + waitlist live</a:t>
            </a:r>
          </a:p>
        </p:txBody>
      </p:sp>
      <p:sp>
        <p:nvSpPr>
          <p:cNvPr id="124" name="Text 26"/>
          <p:cNvSpPr txBox="1"/>
          <p:nvPr/>
        </p:nvSpPr>
        <p:spPr>
          <a:xfrm>
            <a:off x="868679" y="3782490"/>
            <a:ext cx="74066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Week 5 (June):  Community opens to first 100 members</a:t>
            </a:r>
          </a:p>
        </p:txBody>
      </p:sp>
      <p:sp>
        <p:nvSpPr>
          <p:cNvPr id="125" name="Text 27"/>
          <p:cNvSpPr txBox="1"/>
          <p:nvPr/>
        </p:nvSpPr>
        <p:spPr>
          <a:xfrm>
            <a:off x="868679" y="4001946"/>
            <a:ext cx="74066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Week 12 (Aug):  Wedge validation checkpoint — go/no-go for Phase 2</a:t>
            </a:r>
          </a:p>
        </p:txBody>
      </p:sp>
      <p:sp>
        <p:nvSpPr>
          <p:cNvPr id="126" name="Text 28"/>
          <p:cNvSpPr txBox="1"/>
          <p:nvPr/>
        </p:nvSpPr>
        <p:spPr>
          <a:xfrm>
            <a:off x="868679" y="4221402"/>
            <a:ext cx="74066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Sep 15:  App launch into 2,000+ warmed community</a:t>
            </a:r>
          </a:p>
        </p:txBody>
      </p:sp>
      <p:sp>
        <p:nvSpPr>
          <p:cNvPr id="127" name="Text 29"/>
          <p:cNvSpPr txBox="1"/>
          <p:nvPr/>
        </p:nvSpPr>
        <p:spPr>
          <a:xfrm>
            <a:off x="868679" y="4440858"/>
            <a:ext cx="74066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D2D2D"/>
                </a:solidFill>
              </a:defRPr>
            </a:lvl1pPr>
          </a:lstStyle>
          <a:p>
            <a:pPr/>
            <a:r>
              <a:t>Month 12 (Apr 2027):  10,000 community · 3,000 MAU · 100 advisory clients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 txBox="1"/>
          <p:nvPr/>
        </p:nvSpPr>
        <p:spPr>
          <a:xfrm>
            <a:off x="777240" y="37846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0 — FOUNDATION</a:t>
            </a:r>
          </a:p>
        </p:txBody>
      </p:sp>
      <p:sp>
        <p:nvSpPr>
          <p:cNvPr id="130" name="Text 1"/>
          <p:cNvSpPr txBox="1"/>
          <p:nvPr/>
        </p:nvSpPr>
        <p:spPr>
          <a:xfrm>
            <a:off x="777240" y="755826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7A8B7A"/>
                </a:solidFill>
              </a:defRPr>
            </a:lvl1pPr>
          </a:lstStyle>
          <a:p>
            <a:pPr/>
            <a:r>
              <a:t>Weeks 1–4  ·  May 2026</a:t>
            </a:r>
          </a:p>
        </p:txBody>
      </p:sp>
      <p:sp>
        <p:nvSpPr>
          <p:cNvPr id="131" name="Shape 2"/>
          <p:cNvSpPr/>
          <p:nvPr/>
        </p:nvSpPr>
        <p:spPr>
          <a:xfrm>
            <a:off x="731519" y="105156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3"/>
          <p:cNvSpPr txBox="1"/>
          <p:nvPr/>
        </p:nvSpPr>
        <p:spPr>
          <a:xfrm>
            <a:off x="685799" y="125734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4983479" y="125734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6903719" y="125734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KPI</a:t>
            </a:r>
          </a:p>
        </p:txBody>
      </p:sp>
      <p:sp>
        <p:nvSpPr>
          <p:cNvPr id="135" name="Shape 6"/>
          <p:cNvSpPr/>
          <p:nvPr/>
        </p:nvSpPr>
        <p:spPr>
          <a:xfrm>
            <a:off x="548640" y="1554480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7"/>
          <p:cNvSpPr txBox="1"/>
          <p:nvPr/>
        </p:nvSpPr>
        <p:spPr>
          <a:xfrm>
            <a:off x="685799" y="1725090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Visual identity, landing page, quiz, waitlist live</a:t>
            </a:r>
          </a:p>
        </p:txBody>
      </p:sp>
      <p:sp>
        <p:nvSpPr>
          <p:cNvPr id="137" name="Text 8"/>
          <p:cNvSpPr txBox="1"/>
          <p:nvPr/>
        </p:nvSpPr>
        <p:spPr>
          <a:xfrm>
            <a:off x="4983479" y="1723688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 + Designer</a:t>
            </a:r>
          </a:p>
        </p:txBody>
      </p:sp>
      <p:sp>
        <p:nvSpPr>
          <p:cNvPr id="138" name="Text 9"/>
          <p:cNvSpPr txBox="1"/>
          <p:nvPr/>
        </p:nvSpPr>
        <p:spPr>
          <a:xfrm>
            <a:off x="6903719" y="1723688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500 waitlist signups</a:t>
            </a:r>
          </a:p>
        </p:txBody>
      </p:sp>
      <p:sp>
        <p:nvSpPr>
          <p:cNvPr id="139" name="Shape 10"/>
          <p:cNvSpPr/>
          <p:nvPr/>
        </p:nvSpPr>
        <p:spPr>
          <a:xfrm>
            <a:off x="548640" y="2212848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1"/>
          <p:cNvSpPr txBox="1"/>
          <p:nvPr/>
        </p:nvSpPr>
        <p:spPr>
          <a:xfrm>
            <a:off x="685799" y="2300908"/>
            <a:ext cx="41148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Content bank: 20 LinkedIn posts + 15 IG carousels (parent-tension angles)</a:t>
            </a:r>
          </a:p>
        </p:txBody>
      </p:sp>
      <p:sp>
        <p:nvSpPr>
          <p:cNvPr id="141" name="Text 12"/>
          <p:cNvSpPr txBox="1"/>
          <p:nvPr/>
        </p:nvSpPr>
        <p:spPr>
          <a:xfrm>
            <a:off x="4983479" y="2382056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Content + GTM</a:t>
            </a:r>
          </a:p>
        </p:txBody>
      </p:sp>
      <p:sp>
        <p:nvSpPr>
          <p:cNvPr id="142" name="Text 13"/>
          <p:cNvSpPr txBox="1"/>
          <p:nvPr/>
        </p:nvSpPr>
        <p:spPr>
          <a:xfrm>
            <a:off x="6903719" y="2382056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Batch complete by W2</a:t>
            </a:r>
          </a:p>
        </p:txBody>
      </p:sp>
      <p:sp>
        <p:nvSpPr>
          <p:cNvPr id="143" name="Shape 14"/>
          <p:cNvSpPr/>
          <p:nvPr/>
        </p:nvSpPr>
        <p:spPr>
          <a:xfrm>
            <a:off x="548640" y="2871216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5"/>
          <p:cNvSpPr txBox="1"/>
          <p:nvPr/>
        </p:nvSpPr>
        <p:spPr>
          <a:xfrm>
            <a:off x="685799" y="3041826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Founder origin post + 2 guest appearances</a:t>
            </a:r>
          </a:p>
        </p:txBody>
      </p:sp>
      <p:sp>
        <p:nvSpPr>
          <p:cNvPr id="145" name="Text 16"/>
          <p:cNvSpPr txBox="1"/>
          <p:nvPr/>
        </p:nvSpPr>
        <p:spPr>
          <a:xfrm>
            <a:off x="4983479" y="304042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146" name="Text 17"/>
          <p:cNvSpPr txBox="1"/>
          <p:nvPr/>
        </p:nvSpPr>
        <p:spPr>
          <a:xfrm>
            <a:off x="6903719" y="304042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10K+ impressions</a:t>
            </a:r>
          </a:p>
        </p:txBody>
      </p:sp>
      <p:sp>
        <p:nvSpPr>
          <p:cNvPr id="147" name="Shape 18"/>
          <p:cNvSpPr/>
          <p:nvPr/>
        </p:nvSpPr>
        <p:spPr>
          <a:xfrm>
            <a:off x="548640" y="3529584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9"/>
          <p:cNvSpPr txBox="1"/>
          <p:nvPr/>
        </p:nvSpPr>
        <p:spPr>
          <a:xfrm>
            <a:off x="685799" y="3700194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A/B message test: duty vs desire, deferred living, competing timelines</a:t>
            </a:r>
          </a:p>
        </p:txBody>
      </p:sp>
      <p:sp>
        <p:nvSpPr>
          <p:cNvPr id="149" name="Text 20"/>
          <p:cNvSpPr txBox="1"/>
          <p:nvPr/>
        </p:nvSpPr>
        <p:spPr>
          <a:xfrm>
            <a:off x="4983479" y="3698792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150" name="Text 21"/>
          <p:cNvSpPr txBox="1"/>
          <p:nvPr/>
        </p:nvSpPr>
        <p:spPr>
          <a:xfrm>
            <a:off x="6903719" y="36987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1 clear winner/channel</a:t>
            </a:r>
          </a:p>
        </p:txBody>
      </p:sp>
      <p:sp>
        <p:nvSpPr>
          <p:cNvPr id="151" name="Shape 22"/>
          <p:cNvSpPr/>
          <p:nvPr/>
        </p:nvSpPr>
        <p:spPr>
          <a:xfrm>
            <a:off x="548640" y="4187952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23"/>
          <p:cNvSpPr txBox="1"/>
          <p:nvPr/>
        </p:nvSpPr>
        <p:spPr>
          <a:xfrm>
            <a:off x="685799" y="4358562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Email drip: 4 emails over 10 days, Deepika &amp; Sanjay lead story</a:t>
            </a:r>
          </a:p>
        </p:txBody>
      </p:sp>
      <p:sp>
        <p:nvSpPr>
          <p:cNvPr id="153" name="Text 24"/>
          <p:cNvSpPr txBox="1"/>
          <p:nvPr/>
        </p:nvSpPr>
        <p:spPr>
          <a:xfrm>
            <a:off x="4983479" y="4357160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154" name="Text 25"/>
          <p:cNvSpPr txBox="1"/>
          <p:nvPr/>
        </p:nvSpPr>
        <p:spPr>
          <a:xfrm>
            <a:off x="6903719" y="4357160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50%+ open rate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777240" y="37846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1 — COMMUNITY BUILD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777240" y="755826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7A8B7A"/>
                </a:solidFill>
              </a:defRPr>
            </a:lvl1pPr>
          </a:lstStyle>
          <a:p>
            <a:pPr/>
            <a:r>
              <a:t>Weeks 5–16  ·  June–August 2026</a:t>
            </a:r>
          </a:p>
        </p:txBody>
      </p:sp>
      <p:sp>
        <p:nvSpPr>
          <p:cNvPr id="158" name="Shape 2"/>
          <p:cNvSpPr/>
          <p:nvPr/>
        </p:nvSpPr>
        <p:spPr>
          <a:xfrm>
            <a:off x="731519" y="105156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3"/>
          <p:cNvSpPr txBox="1"/>
          <p:nvPr/>
        </p:nvSpPr>
        <p:spPr>
          <a:xfrm>
            <a:off x="685799" y="125734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60" name="Text 4"/>
          <p:cNvSpPr txBox="1"/>
          <p:nvPr/>
        </p:nvSpPr>
        <p:spPr>
          <a:xfrm>
            <a:off x="4983479" y="125734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61" name="Text 5"/>
          <p:cNvSpPr txBox="1"/>
          <p:nvPr/>
        </p:nvSpPr>
        <p:spPr>
          <a:xfrm>
            <a:off x="6903719" y="125734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KPI</a:t>
            </a:r>
          </a:p>
        </p:txBody>
      </p:sp>
      <p:sp>
        <p:nvSpPr>
          <p:cNvPr id="162" name="Shape 6"/>
          <p:cNvSpPr/>
          <p:nvPr/>
        </p:nvSpPr>
        <p:spPr>
          <a:xfrm>
            <a:off x="548640" y="1554480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7"/>
          <p:cNvSpPr txBox="1"/>
          <p:nvPr/>
        </p:nvSpPr>
        <p:spPr>
          <a:xfrm>
            <a:off x="685799" y="1642540"/>
            <a:ext cx="411480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Seed community with 10-15 HoA advisory clients (parent demographic)</a:t>
            </a:r>
          </a:p>
        </p:txBody>
      </p:sp>
      <p:sp>
        <p:nvSpPr>
          <p:cNvPr id="164" name="Text 8"/>
          <p:cNvSpPr txBox="1"/>
          <p:nvPr/>
        </p:nvSpPr>
        <p:spPr>
          <a:xfrm>
            <a:off x="4983479" y="1723688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165" name="Text 9"/>
          <p:cNvSpPr txBox="1"/>
          <p:nvPr/>
        </p:nvSpPr>
        <p:spPr>
          <a:xfrm>
            <a:off x="6903719" y="1723688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Active posting Day 1</a:t>
            </a:r>
          </a:p>
        </p:txBody>
      </p:sp>
      <p:sp>
        <p:nvSpPr>
          <p:cNvPr id="166" name="Shape 10"/>
          <p:cNvSpPr/>
          <p:nvPr/>
        </p:nvSpPr>
        <p:spPr>
          <a:xfrm>
            <a:off x="548640" y="2212848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1"/>
          <p:cNvSpPr txBox="1"/>
          <p:nvPr/>
        </p:nvSpPr>
        <p:spPr>
          <a:xfrm>
            <a:off x="685799" y="2383458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Open to waitlist in waves — scarcity framing</a:t>
            </a:r>
          </a:p>
        </p:txBody>
      </p:sp>
      <p:sp>
        <p:nvSpPr>
          <p:cNvPr id="168" name="Text 12"/>
          <p:cNvSpPr txBox="1"/>
          <p:nvPr/>
        </p:nvSpPr>
        <p:spPr>
          <a:xfrm>
            <a:off x="4983479" y="2382056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169" name="Text 13"/>
          <p:cNvSpPr txBox="1"/>
          <p:nvPr/>
        </p:nvSpPr>
        <p:spPr>
          <a:xfrm>
            <a:off x="6903719" y="2382056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2,000 members by W16</a:t>
            </a:r>
          </a:p>
        </p:txBody>
      </p:sp>
      <p:sp>
        <p:nvSpPr>
          <p:cNvPr id="170" name="Shape 14"/>
          <p:cNvSpPr/>
          <p:nvPr/>
        </p:nvSpPr>
        <p:spPr>
          <a:xfrm>
            <a:off x="548640" y="2871216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5"/>
          <p:cNvSpPr txBox="1"/>
          <p:nvPr/>
        </p:nvSpPr>
        <p:spPr>
          <a:xfrm>
            <a:off x="685799" y="3041826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Establish rituals: Clarity Circles, Say Yes Moments, Hell Yes! Decisions</a:t>
            </a:r>
          </a:p>
        </p:txBody>
      </p:sp>
      <p:sp>
        <p:nvSpPr>
          <p:cNvPr id="172" name="Text 16"/>
          <p:cNvSpPr txBox="1"/>
          <p:nvPr/>
        </p:nvSpPr>
        <p:spPr>
          <a:xfrm>
            <a:off x="4983479" y="304042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Community Mgr</a:t>
            </a:r>
          </a:p>
        </p:txBody>
      </p:sp>
      <p:sp>
        <p:nvSpPr>
          <p:cNvPr id="173" name="Text 17"/>
          <p:cNvSpPr txBox="1"/>
          <p:nvPr/>
        </p:nvSpPr>
        <p:spPr>
          <a:xfrm>
            <a:off x="6903719" y="304042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40%+ WAU</a:t>
            </a:r>
          </a:p>
        </p:txBody>
      </p:sp>
      <p:sp>
        <p:nvSpPr>
          <p:cNvPr id="174" name="Shape 18"/>
          <p:cNvSpPr/>
          <p:nvPr/>
        </p:nvSpPr>
        <p:spPr>
          <a:xfrm>
            <a:off x="548640" y="3529584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9"/>
          <p:cNvSpPr txBox="1"/>
          <p:nvPr/>
        </p:nvSpPr>
        <p:spPr>
          <a:xfrm>
            <a:off x="685799" y="3700194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Launch 20 accountability pods matched by life stage</a:t>
            </a:r>
          </a:p>
        </p:txBody>
      </p:sp>
      <p:sp>
        <p:nvSpPr>
          <p:cNvPr id="176" name="Text 20"/>
          <p:cNvSpPr txBox="1"/>
          <p:nvPr/>
        </p:nvSpPr>
        <p:spPr>
          <a:xfrm>
            <a:off x="4983479" y="3698792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Community Mgr</a:t>
            </a:r>
          </a:p>
        </p:txBody>
      </p:sp>
      <p:sp>
        <p:nvSpPr>
          <p:cNvPr id="177" name="Text 21"/>
          <p:cNvSpPr txBox="1"/>
          <p:nvPr/>
        </p:nvSpPr>
        <p:spPr>
          <a:xfrm>
            <a:off x="6903719" y="36987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100 pod members</a:t>
            </a:r>
          </a:p>
        </p:txBody>
      </p:sp>
      <p:sp>
        <p:nvSpPr>
          <p:cNvPr id="178" name="Shape 22"/>
          <p:cNvSpPr/>
          <p:nvPr/>
        </p:nvSpPr>
        <p:spPr>
          <a:xfrm>
            <a:off x="548640" y="4187952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23"/>
          <p:cNvSpPr txBox="1"/>
          <p:nvPr/>
        </p:nvSpPr>
        <p:spPr>
          <a:xfrm>
            <a:off x="685799" y="4358562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Corporate workshops: "Financial wellness for working parents"</a:t>
            </a:r>
          </a:p>
        </p:txBody>
      </p:sp>
      <p:sp>
        <p:nvSpPr>
          <p:cNvPr id="180" name="Text 24"/>
          <p:cNvSpPr txBox="1"/>
          <p:nvPr/>
        </p:nvSpPr>
        <p:spPr>
          <a:xfrm>
            <a:off x="4983479" y="4357160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 + Founder</a:t>
            </a:r>
          </a:p>
        </p:txBody>
      </p:sp>
      <p:sp>
        <p:nvSpPr>
          <p:cNvPr id="181" name="Text 25"/>
          <p:cNvSpPr txBox="1"/>
          <p:nvPr/>
        </p:nvSpPr>
        <p:spPr>
          <a:xfrm>
            <a:off x="6903719" y="4357160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5+ organic referrals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777240" y="37846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2 — APP LAUNCH</a:t>
            </a:r>
          </a:p>
        </p:txBody>
      </p:sp>
      <p:sp>
        <p:nvSpPr>
          <p:cNvPr id="184" name="Text 1"/>
          <p:cNvSpPr txBox="1"/>
          <p:nvPr/>
        </p:nvSpPr>
        <p:spPr>
          <a:xfrm>
            <a:off x="777240" y="755826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7A8B7A"/>
                </a:solidFill>
              </a:defRPr>
            </a:lvl1pPr>
          </a:lstStyle>
          <a:p>
            <a:pPr/>
            <a:r>
              <a:t>Weeks 17–24  ·  Sep 15 Launch</a:t>
            </a:r>
          </a:p>
        </p:txBody>
      </p:sp>
      <p:sp>
        <p:nvSpPr>
          <p:cNvPr id="185" name="Shape 2"/>
          <p:cNvSpPr/>
          <p:nvPr/>
        </p:nvSpPr>
        <p:spPr>
          <a:xfrm>
            <a:off x="731519" y="105156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"/>
          <p:cNvSpPr txBox="1"/>
          <p:nvPr/>
        </p:nvSpPr>
        <p:spPr>
          <a:xfrm>
            <a:off x="685799" y="125734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87" name="Text 4"/>
          <p:cNvSpPr txBox="1"/>
          <p:nvPr/>
        </p:nvSpPr>
        <p:spPr>
          <a:xfrm>
            <a:off x="4983479" y="125734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88" name="Text 5"/>
          <p:cNvSpPr txBox="1"/>
          <p:nvPr/>
        </p:nvSpPr>
        <p:spPr>
          <a:xfrm>
            <a:off x="6903719" y="125734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KPI</a:t>
            </a:r>
          </a:p>
        </p:txBody>
      </p:sp>
      <p:sp>
        <p:nvSpPr>
          <p:cNvPr id="189" name="Shape 6"/>
          <p:cNvSpPr/>
          <p:nvPr/>
        </p:nvSpPr>
        <p:spPr>
          <a:xfrm>
            <a:off x="548640" y="1554480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7"/>
          <p:cNvSpPr txBox="1"/>
          <p:nvPr/>
        </p:nvSpPr>
        <p:spPr>
          <a:xfrm>
            <a:off x="685799" y="1725090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Beta access to Founding Yes Lifers + pod completers</a:t>
            </a:r>
          </a:p>
        </p:txBody>
      </p:sp>
      <p:sp>
        <p:nvSpPr>
          <p:cNvPr id="191" name="Text 8"/>
          <p:cNvSpPr txBox="1"/>
          <p:nvPr/>
        </p:nvSpPr>
        <p:spPr>
          <a:xfrm>
            <a:off x="4983479" y="1723688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192" name="Text 9"/>
          <p:cNvSpPr txBox="1"/>
          <p:nvPr/>
        </p:nvSpPr>
        <p:spPr>
          <a:xfrm>
            <a:off x="6903719" y="1723688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600 community signups</a:t>
            </a:r>
          </a:p>
        </p:txBody>
      </p:sp>
      <p:sp>
        <p:nvSpPr>
          <p:cNvPr id="193" name="Shape 10"/>
          <p:cNvSpPr/>
          <p:nvPr/>
        </p:nvSpPr>
        <p:spPr>
          <a:xfrm>
            <a:off x="548640" y="2212848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1"/>
          <p:cNvSpPr txBox="1"/>
          <p:nvPr/>
        </p:nvSpPr>
        <p:spPr>
          <a:xfrm>
            <a:off x="685799" y="2383458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In-community launch event — founder walkthrough</a:t>
            </a:r>
          </a:p>
        </p:txBody>
      </p:sp>
      <p:sp>
        <p:nvSpPr>
          <p:cNvPr id="195" name="Text 12"/>
          <p:cNvSpPr txBox="1"/>
          <p:nvPr/>
        </p:nvSpPr>
        <p:spPr>
          <a:xfrm>
            <a:off x="4983479" y="2382056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196" name="Text 13"/>
          <p:cNvSpPr txBox="1"/>
          <p:nvPr/>
        </p:nvSpPr>
        <p:spPr>
          <a:xfrm>
            <a:off x="6903719" y="2382056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70%+ snapshot completion</a:t>
            </a:r>
          </a:p>
        </p:txBody>
      </p:sp>
      <p:sp>
        <p:nvSpPr>
          <p:cNvPr id="197" name="Shape 14"/>
          <p:cNvSpPr/>
          <p:nvPr/>
        </p:nvSpPr>
        <p:spPr>
          <a:xfrm>
            <a:off x="548640" y="2871216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15"/>
          <p:cNvSpPr txBox="1"/>
          <p:nvPr/>
        </p:nvSpPr>
        <p:spPr>
          <a:xfrm>
            <a:off x="685799" y="2959276"/>
            <a:ext cx="41148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Public launch: LinkedIn, Product Hunt, press (Mint, ET Wealth, Finshots)</a:t>
            </a:r>
          </a:p>
        </p:txBody>
      </p:sp>
      <p:sp>
        <p:nvSpPr>
          <p:cNvPr id="199" name="Text 16"/>
          <p:cNvSpPr txBox="1"/>
          <p:nvPr/>
        </p:nvSpPr>
        <p:spPr>
          <a:xfrm>
            <a:off x="4983479" y="304042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200" name="Text 17"/>
          <p:cNvSpPr txBox="1"/>
          <p:nvPr/>
        </p:nvSpPr>
        <p:spPr>
          <a:xfrm>
            <a:off x="6903719" y="304042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400 public signups</a:t>
            </a:r>
          </a:p>
        </p:txBody>
      </p:sp>
      <p:sp>
        <p:nvSpPr>
          <p:cNvPr id="201" name="Shape 18"/>
          <p:cNvSpPr/>
          <p:nvPr/>
        </p:nvSpPr>
        <p:spPr>
          <a:xfrm>
            <a:off x="548640" y="3529584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9"/>
          <p:cNvSpPr txBox="1"/>
          <p:nvPr/>
        </p:nvSpPr>
        <p:spPr>
          <a:xfrm>
            <a:off x="685799" y="3700194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Paid conversion pipeline: free → ₹2,999 plan → ₹4,999 advisory</a:t>
            </a:r>
          </a:p>
        </p:txBody>
      </p:sp>
      <p:sp>
        <p:nvSpPr>
          <p:cNvPr id="203" name="Text 20"/>
          <p:cNvSpPr txBox="1"/>
          <p:nvPr/>
        </p:nvSpPr>
        <p:spPr>
          <a:xfrm>
            <a:off x="4983479" y="3698792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204" name="Text 21"/>
          <p:cNvSpPr txBox="1"/>
          <p:nvPr/>
        </p:nvSpPr>
        <p:spPr>
          <a:xfrm>
            <a:off x="6903719" y="36987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15% upgrade rate</a:t>
            </a:r>
          </a:p>
        </p:txBody>
      </p:sp>
      <p:sp>
        <p:nvSpPr>
          <p:cNvPr id="205" name="Shape 22"/>
          <p:cNvSpPr/>
          <p:nvPr/>
        </p:nvSpPr>
        <p:spPr>
          <a:xfrm>
            <a:off x="548640" y="4187952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23"/>
          <p:cNvSpPr txBox="1"/>
          <p:nvPr/>
        </p:nvSpPr>
        <p:spPr>
          <a:xfrm>
            <a:off x="685799" y="4358562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Advisory pipeline seeded from complexity triggers</a:t>
            </a:r>
          </a:p>
        </p:txBody>
      </p:sp>
      <p:sp>
        <p:nvSpPr>
          <p:cNvPr id="207" name="Text 24"/>
          <p:cNvSpPr txBox="1"/>
          <p:nvPr/>
        </p:nvSpPr>
        <p:spPr>
          <a:xfrm>
            <a:off x="4983479" y="4357160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208" name="Text 25"/>
          <p:cNvSpPr txBox="1"/>
          <p:nvPr/>
        </p:nvSpPr>
        <p:spPr>
          <a:xfrm>
            <a:off x="6903719" y="4357160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10 qualified leads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 txBox="1"/>
          <p:nvPr/>
        </p:nvSpPr>
        <p:spPr>
          <a:xfrm>
            <a:off x="777240" y="37846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PHASE 3 — RETENTION &amp; SCALE</a:t>
            </a:r>
          </a:p>
        </p:txBody>
      </p:sp>
      <p:sp>
        <p:nvSpPr>
          <p:cNvPr id="211" name="Text 1"/>
          <p:cNvSpPr txBox="1"/>
          <p:nvPr/>
        </p:nvSpPr>
        <p:spPr>
          <a:xfrm>
            <a:off x="777240" y="755826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7A8B7A"/>
                </a:solidFill>
              </a:defRPr>
            </a:lvl1pPr>
          </a:lstStyle>
          <a:p>
            <a:pPr/>
            <a:r>
              <a:t>Weeks 25+  ·  November 2026+</a:t>
            </a:r>
          </a:p>
        </p:txBody>
      </p:sp>
      <p:sp>
        <p:nvSpPr>
          <p:cNvPr id="212" name="Shape 2"/>
          <p:cNvSpPr/>
          <p:nvPr/>
        </p:nvSpPr>
        <p:spPr>
          <a:xfrm>
            <a:off x="731519" y="1051560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3"/>
          <p:cNvSpPr txBox="1"/>
          <p:nvPr/>
        </p:nvSpPr>
        <p:spPr>
          <a:xfrm>
            <a:off x="685799" y="125734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14" name="Text 4"/>
          <p:cNvSpPr txBox="1"/>
          <p:nvPr/>
        </p:nvSpPr>
        <p:spPr>
          <a:xfrm>
            <a:off x="4983479" y="125734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215" name="Text 5"/>
          <p:cNvSpPr txBox="1"/>
          <p:nvPr/>
        </p:nvSpPr>
        <p:spPr>
          <a:xfrm>
            <a:off x="6903719" y="125734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KPI</a:t>
            </a:r>
          </a:p>
        </p:txBody>
      </p:sp>
      <p:sp>
        <p:nvSpPr>
          <p:cNvPr id="216" name="Shape 6"/>
          <p:cNvSpPr/>
          <p:nvPr/>
        </p:nvSpPr>
        <p:spPr>
          <a:xfrm>
            <a:off x="548640" y="1554480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7"/>
          <p:cNvSpPr txBox="1"/>
          <p:nvPr/>
        </p:nvSpPr>
        <p:spPr>
          <a:xfrm>
            <a:off x="685799" y="1725090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Flywheel: community → app → share → new member → advisory</a:t>
            </a:r>
          </a:p>
        </p:txBody>
      </p:sp>
      <p:sp>
        <p:nvSpPr>
          <p:cNvPr id="218" name="Text 8"/>
          <p:cNvSpPr txBox="1"/>
          <p:nvPr/>
        </p:nvSpPr>
        <p:spPr>
          <a:xfrm>
            <a:off x="4983479" y="1723688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All</a:t>
            </a:r>
          </a:p>
        </p:txBody>
      </p:sp>
      <p:sp>
        <p:nvSpPr>
          <p:cNvPr id="219" name="Text 9"/>
          <p:cNvSpPr txBox="1"/>
          <p:nvPr/>
        </p:nvSpPr>
        <p:spPr>
          <a:xfrm>
            <a:off x="6903719" y="1723688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Self-sustaining loop</a:t>
            </a:r>
          </a:p>
        </p:txBody>
      </p:sp>
      <p:sp>
        <p:nvSpPr>
          <p:cNvPr id="220" name="Shape 10"/>
          <p:cNvSpPr/>
          <p:nvPr/>
        </p:nvSpPr>
        <p:spPr>
          <a:xfrm>
            <a:off x="548640" y="2212848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1"/>
          <p:cNvSpPr txBox="1"/>
          <p:nvPr/>
        </p:nvSpPr>
        <p:spPr>
          <a:xfrm>
            <a:off x="685799" y="2300908"/>
            <a:ext cx="41148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Graduated leadership: veteran members lead pods, co-host Clarity Circles</a:t>
            </a:r>
          </a:p>
        </p:txBody>
      </p:sp>
      <p:sp>
        <p:nvSpPr>
          <p:cNvPr id="222" name="Text 12"/>
          <p:cNvSpPr txBox="1"/>
          <p:nvPr/>
        </p:nvSpPr>
        <p:spPr>
          <a:xfrm>
            <a:off x="4983479" y="2382056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Community Mgr</a:t>
            </a:r>
          </a:p>
        </p:txBody>
      </p:sp>
      <p:sp>
        <p:nvSpPr>
          <p:cNvPr id="223" name="Text 13"/>
          <p:cNvSpPr txBox="1"/>
          <p:nvPr/>
        </p:nvSpPr>
        <p:spPr>
          <a:xfrm>
            <a:off x="6903719" y="2382056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30%+ member content</a:t>
            </a:r>
          </a:p>
        </p:txBody>
      </p:sp>
      <p:sp>
        <p:nvSpPr>
          <p:cNvPr id="224" name="Shape 14"/>
          <p:cNvSpPr/>
          <p:nvPr/>
        </p:nvSpPr>
        <p:spPr>
          <a:xfrm>
            <a:off x="548640" y="2871216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15"/>
          <p:cNvSpPr txBox="1"/>
          <p:nvPr/>
        </p:nvSpPr>
        <p:spPr>
          <a:xfrm>
            <a:off x="685799" y="3041826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SEO blog, YouTube/podcast, non-founder acquisition engines</a:t>
            </a:r>
          </a:p>
        </p:txBody>
      </p:sp>
      <p:sp>
        <p:nvSpPr>
          <p:cNvPr id="226" name="Text 16"/>
          <p:cNvSpPr txBox="1"/>
          <p:nvPr/>
        </p:nvSpPr>
        <p:spPr>
          <a:xfrm>
            <a:off x="4983479" y="3040424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227" name="Text 17"/>
          <p:cNvSpPr txBox="1"/>
          <p:nvPr/>
        </p:nvSpPr>
        <p:spPr>
          <a:xfrm>
            <a:off x="6903719" y="304042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No single channel &gt;50%</a:t>
            </a:r>
          </a:p>
        </p:txBody>
      </p:sp>
      <p:sp>
        <p:nvSpPr>
          <p:cNvPr id="228" name="Shape 18"/>
          <p:cNvSpPr/>
          <p:nvPr/>
        </p:nvSpPr>
        <p:spPr>
          <a:xfrm>
            <a:off x="548640" y="3529584"/>
            <a:ext cx="8046719" cy="566929"/>
          </a:xfrm>
          <a:prstGeom prst="rect">
            <a:avLst/>
          </a:prstGeom>
          <a:solidFill>
            <a:srgbClr val="1E4A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9"/>
          <p:cNvSpPr txBox="1"/>
          <p:nvPr/>
        </p:nvSpPr>
        <p:spPr>
          <a:xfrm>
            <a:off x="685799" y="3700194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Advisory capacity: 3-4 advisors, 100 active clients</a:t>
            </a:r>
          </a:p>
        </p:txBody>
      </p:sp>
      <p:sp>
        <p:nvSpPr>
          <p:cNvPr id="230" name="Text 20"/>
          <p:cNvSpPr txBox="1"/>
          <p:nvPr/>
        </p:nvSpPr>
        <p:spPr>
          <a:xfrm>
            <a:off x="4983479" y="3698792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231" name="Text 21"/>
          <p:cNvSpPr txBox="1"/>
          <p:nvPr/>
        </p:nvSpPr>
        <p:spPr>
          <a:xfrm>
            <a:off x="6903719" y="36987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₹15L–35L/yr revenue</a:t>
            </a:r>
          </a:p>
        </p:txBody>
      </p:sp>
      <p:sp>
        <p:nvSpPr>
          <p:cNvPr id="232" name="Shape 22"/>
          <p:cNvSpPr/>
          <p:nvPr/>
        </p:nvSpPr>
        <p:spPr>
          <a:xfrm>
            <a:off x="548640" y="4187952"/>
            <a:ext cx="8046719" cy="56692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23"/>
          <p:cNvSpPr txBox="1"/>
          <p:nvPr/>
        </p:nvSpPr>
        <p:spPr>
          <a:xfrm>
            <a:off x="685799" y="4358562"/>
            <a:ext cx="4114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Scale to 10,000 community, 3,000 MAU</a:t>
            </a:r>
          </a:p>
        </p:txBody>
      </p:sp>
      <p:sp>
        <p:nvSpPr>
          <p:cNvPr id="234" name="Text 24"/>
          <p:cNvSpPr txBox="1"/>
          <p:nvPr/>
        </p:nvSpPr>
        <p:spPr>
          <a:xfrm>
            <a:off x="4983479" y="4357160"/>
            <a:ext cx="1737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AF8F0"/>
                </a:solidFill>
              </a:defRPr>
            </a:lvl1pPr>
          </a:lstStyle>
          <a:p>
            <a:pPr/>
            <a:r>
              <a:t>GTM</a:t>
            </a:r>
          </a:p>
        </p:txBody>
      </p:sp>
      <p:sp>
        <p:nvSpPr>
          <p:cNvPr id="235" name="Text 25"/>
          <p:cNvSpPr txBox="1"/>
          <p:nvPr/>
        </p:nvSpPr>
        <p:spPr>
          <a:xfrm>
            <a:off x="6903719" y="4357160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C5A55A"/>
                </a:solidFill>
              </a:defRPr>
            </a:lvl1pPr>
          </a:lstStyle>
          <a:p>
            <a:pPr/>
            <a:r>
              <a:t>NPS 70+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 txBox="1"/>
          <p:nvPr/>
        </p:nvSpPr>
        <p:spPr>
          <a:xfrm>
            <a:off x="777240" y="40132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7A8B7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FUNNEL MATH</a:t>
            </a:r>
          </a:p>
        </p:txBody>
      </p:sp>
      <p:sp>
        <p:nvSpPr>
          <p:cNvPr id="238" name="Shape 1"/>
          <p:cNvSpPr/>
          <p:nvPr/>
        </p:nvSpPr>
        <p:spPr>
          <a:xfrm>
            <a:off x="731519" y="804672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Shape 2"/>
          <p:cNvSpPr/>
          <p:nvPr/>
        </p:nvSpPr>
        <p:spPr>
          <a:xfrm>
            <a:off x="548640" y="1005839"/>
            <a:ext cx="8046719" cy="411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3"/>
          <p:cNvSpPr txBox="1"/>
          <p:nvPr/>
        </p:nvSpPr>
        <p:spPr>
          <a:xfrm>
            <a:off x="731519" y="1098726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Content reach</a:t>
            </a:r>
          </a:p>
        </p:txBody>
      </p:sp>
      <p:sp>
        <p:nvSpPr>
          <p:cNvPr id="241" name="Text 4"/>
          <p:cNvSpPr txBox="1"/>
          <p:nvPr/>
        </p:nvSpPr>
        <p:spPr>
          <a:xfrm>
            <a:off x="3337560" y="1045209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500K</a:t>
            </a:r>
          </a:p>
        </p:txBody>
      </p:sp>
      <p:sp>
        <p:nvSpPr>
          <p:cNvPr id="242" name="Text 6"/>
          <p:cNvSpPr txBox="1"/>
          <p:nvPr/>
        </p:nvSpPr>
        <p:spPr>
          <a:xfrm>
            <a:off x="5532120" y="1097324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LinkedIn + Instagram cumulative</a:t>
            </a:r>
          </a:p>
        </p:txBody>
      </p:sp>
      <p:sp>
        <p:nvSpPr>
          <p:cNvPr id="243" name="Shape 7"/>
          <p:cNvSpPr/>
          <p:nvPr/>
        </p:nvSpPr>
        <p:spPr>
          <a:xfrm>
            <a:off x="548640" y="1490472"/>
            <a:ext cx="8046719" cy="411481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8"/>
          <p:cNvSpPr txBox="1"/>
          <p:nvPr/>
        </p:nvSpPr>
        <p:spPr>
          <a:xfrm>
            <a:off x="731519" y="1583358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Waitlist / quiz</a:t>
            </a:r>
          </a:p>
        </p:txBody>
      </p:sp>
      <p:sp>
        <p:nvSpPr>
          <p:cNvPr id="245" name="Text 9"/>
          <p:cNvSpPr txBox="1"/>
          <p:nvPr/>
        </p:nvSpPr>
        <p:spPr>
          <a:xfrm>
            <a:off x="3337560" y="1529841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2,500</a:t>
            </a:r>
          </a:p>
        </p:txBody>
      </p:sp>
      <p:sp>
        <p:nvSpPr>
          <p:cNvPr id="246" name="Text 10"/>
          <p:cNvSpPr txBox="1"/>
          <p:nvPr/>
        </p:nvSpPr>
        <p:spPr>
          <a:xfrm>
            <a:off x="4526279" y="1572059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0.5%</a:t>
            </a:r>
          </a:p>
        </p:txBody>
      </p:sp>
      <p:sp>
        <p:nvSpPr>
          <p:cNvPr id="247" name="Text 11"/>
          <p:cNvSpPr txBox="1"/>
          <p:nvPr/>
        </p:nvSpPr>
        <p:spPr>
          <a:xfrm>
            <a:off x="5532120" y="1581956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Quiz + landing page captures</a:t>
            </a:r>
          </a:p>
        </p:txBody>
      </p:sp>
      <p:sp>
        <p:nvSpPr>
          <p:cNvPr id="248" name="Shape 12"/>
          <p:cNvSpPr/>
          <p:nvPr/>
        </p:nvSpPr>
        <p:spPr>
          <a:xfrm>
            <a:off x="548640" y="1975104"/>
            <a:ext cx="8046719" cy="411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3"/>
          <p:cNvSpPr txBox="1"/>
          <p:nvPr/>
        </p:nvSpPr>
        <p:spPr>
          <a:xfrm>
            <a:off x="731519" y="2067990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Community members</a:t>
            </a:r>
          </a:p>
        </p:txBody>
      </p:sp>
      <p:sp>
        <p:nvSpPr>
          <p:cNvPr id="250" name="Text 14"/>
          <p:cNvSpPr txBox="1"/>
          <p:nvPr/>
        </p:nvSpPr>
        <p:spPr>
          <a:xfrm>
            <a:off x="3337560" y="2014474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2,000</a:t>
            </a:r>
          </a:p>
        </p:txBody>
      </p:sp>
      <p:sp>
        <p:nvSpPr>
          <p:cNvPr id="251" name="Text 15"/>
          <p:cNvSpPr txBox="1"/>
          <p:nvPr/>
        </p:nvSpPr>
        <p:spPr>
          <a:xfrm>
            <a:off x="4526279" y="2056691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80%</a:t>
            </a:r>
          </a:p>
        </p:txBody>
      </p:sp>
      <p:sp>
        <p:nvSpPr>
          <p:cNvPr id="252" name="Text 16"/>
          <p:cNvSpPr txBox="1"/>
          <p:nvPr/>
        </p:nvSpPr>
        <p:spPr>
          <a:xfrm>
            <a:off x="5532120" y="2066588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Email drip → community invite</a:t>
            </a:r>
          </a:p>
        </p:txBody>
      </p:sp>
      <p:sp>
        <p:nvSpPr>
          <p:cNvPr id="253" name="Shape 17"/>
          <p:cNvSpPr/>
          <p:nvPr/>
        </p:nvSpPr>
        <p:spPr>
          <a:xfrm>
            <a:off x="548640" y="2459735"/>
            <a:ext cx="8046719" cy="411481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8"/>
          <p:cNvSpPr txBox="1"/>
          <p:nvPr/>
        </p:nvSpPr>
        <p:spPr>
          <a:xfrm>
            <a:off x="731519" y="2552621"/>
            <a:ext cx="24688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App users (community)</a:t>
            </a:r>
          </a:p>
        </p:txBody>
      </p:sp>
      <p:sp>
        <p:nvSpPr>
          <p:cNvPr id="255" name="Text 19"/>
          <p:cNvSpPr txBox="1"/>
          <p:nvPr/>
        </p:nvSpPr>
        <p:spPr>
          <a:xfrm>
            <a:off x="3337560" y="2499105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600</a:t>
            </a:r>
          </a:p>
        </p:txBody>
      </p:sp>
      <p:sp>
        <p:nvSpPr>
          <p:cNvPr id="256" name="Text 20"/>
          <p:cNvSpPr txBox="1"/>
          <p:nvPr/>
        </p:nvSpPr>
        <p:spPr>
          <a:xfrm>
            <a:off x="4526279" y="2541323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257" name="Text 21"/>
          <p:cNvSpPr txBox="1"/>
          <p:nvPr/>
        </p:nvSpPr>
        <p:spPr>
          <a:xfrm>
            <a:off x="5532120" y="2551220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Pre-sold, trust-based conversion</a:t>
            </a:r>
          </a:p>
        </p:txBody>
      </p:sp>
      <p:sp>
        <p:nvSpPr>
          <p:cNvPr id="258" name="Shape 22"/>
          <p:cNvSpPr/>
          <p:nvPr/>
        </p:nvSpPr>
        <p:spPr>
          <a:xfrm>
            <a:off x="548640" y="2944367"/>
            <a:ext cx="8046719" cy="411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23"/>
          <p:cNvSpPr txBox="1"/>
          <p:nvPr/>
        </p:nvSpPr>
        <p:spPr>
          <a:xfrm>
            <a:off x="731519" y="3037254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App users (public)</a:t>
            </a:r>
          </a:p>
        </p:txBody>
      </p:sp>
      <p:sp>
        <p:nvSpPr>
          <p:cNvPr id="260" name="Text 24"/>
          <p:cNvSpPr txBox="1"/>
          <p:nvPr/>
        </p:nvSpPr>
        <p:spPr>
          <a:xfrm>
            <a:off x="3337560" y="2983737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400</a:t>
            </a:r>
          </a:p>
        </p:txBody>
      </p:sp>
      <p:sp>
        <p:nvSpPr>
          <p:cNvPr id="261" name="Text 25"/>
          <p:cNvSpPr txBox="1"/>
          <p:nvPr/>
        </p:nvSpPr>
        <p:spPr>
          <a:xfrm>
            <a:off x="4526279" y="3025955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10-15%</a:t>
            </a:r>
          </a:p>
        </p:txBody>
      </p:sp>
      <p:sp>
        <p:nvSpPr>
          <p:cNvPr id="262" name="Text 26"/>
          <p:cNvSpPr txBox="1"/>
          <p:nvPr/>
        </p:nvSpPr>
        <p:spPr>
          <a:xfrm>
            <a:off x="5532120" y="3035852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Cold launch acquisition</a:t>
            </a:r>
          </a:p>
        </p:txBody>
      </p:sp>
      <p:sp>
        <p:nvSpPr>
          <p:cNvPr id="263" name="Shape 27"/>
          <p:cNvSpPr/>
          <p:nvPr/>
        </p:nvSpPr>
        <p:spPr>
          <a:xfrm>
            <a:off x="548640" y="3429000"/>
            <a:ext cx="8046719" cy="411481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28"/>
          <p:cNvSpPr txBox="1"/>
          <p:nvPr/>
        </p:nvSpPr>
        <p:spPr>
          <a:xfrm>
            <a:off x="731519" y="3521886"/>
            <a:ext cx="24688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Paid plans (₹2,999)</a:t>
            </a:r>
          </a:p>
        </p:txBody>
      </p:sp>
      <p:sp>
        <p:nvSpPr>
          <p:cNvPr id="265" name="Text 29"/>
          <p:cNvSpPr txBox="1"/>
          <p:nvPr/>
        </p:nvSpPr>
        <p:spPr>
          <a:xfrm>
            <a:off x="3337560" y="3468370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150</a:t>
            </a:r>
          </a:p>
        </p:txBody>
      </p:sp>
      <p:sp>
        <p:nvSpPr>
          <p:cNvPr id="266" name="Text 30"/>
          <p:cNvSpPr txBox="1"/>
          <p:nvPr/>
        </p:nvSpPr>
        <p:spPr>
          <a:xfrm>
            <a:off x="4526279" y="3510587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267" name="Text 31"/>
          <p:cNvSpPr txBox="1"/>
          <p:nvPr/>
        </p:nvSpPr>
        <p:spPr>
          <a:xfrm>
            <a:off x="5532120" y="3520484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Snapshot → "What Could Be" card</a:t>
            </a:r>
          </a:p>
        </p:txBody>
      </p:sp>
      <p:sp>
        <p:nvSpPr>
          <p:cNvPr id="268" name="Shape 32"/>
          <p:cNvSpPr/>
          <p:nvPr/>
        </p:nvSpPr>
        <p:spPr>
          <a:xfrm>
            <a:off x="548640" y="3913632"/>
            <a:ext cx="8046719" cy="411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33"/>
          <p:cNvSpPr txBox="1"/>
          <p:nvPr/>
        </p:nvSpPr>
        <p:spPr>
          <a:xfrm>
            <a:off x="731519" y="4006518"/>
            <a:ext cx="24688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Advisory upgrade (₹4,999)</a:t>
            </a:r>
          </a:p>
        </p:txBody>
      </p:sp>
      <p:sp>
        <p:nvSpPr>
          <p:cNvPr id="270" name="Text 34"/>
          <p:cNvSpPr txBox="1"/>
          <p:nvPr/>
        </p:nvSpPr>
        <p:spPr>
          <a:xfrm>
            <a:off x="3337560" y="3953002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271" name="Text 35"/>
          <p:cNvSpPr txBox="1"/>
          <p:nvPr/>
        </p:nvSpPr>
        <p:spPr>
          <a:xfrm>
            <a:off x="4526279" y="3995219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272" name="Text 36"/>
          <p:cNvSpPr txBox="1"/>
          <p:nvPr/>
        </p:nvSpPr>
        <p:spPr>
          <a:xfrm>
            <a:off x="5532120" y="4005116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"Which fund exactly?" moment</a:t>
            </a:r>
          </a:p>
        </p:txBody>
      </p:sp>
      <p:sp>
        <p:nvSpPr>
          <p:cNvPr id="273" name="Shape 37"/>
          <p:cNvSpPr/>
          <p:nvPr/>
        </p:nvSpPr>
        <p:spPr>
          <a:xfrm>
            <a:off x="548640" y="4398264"/>
            <a:ext cx="8046719" cy="411481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38"/>
          <p:cNvSpPr txBox="1"/>
          <p:nvPr/>
        </p:nvSpPr>
        <p:spPr>
          <a:xfrm>
            <a:off x="731519" y="4491150"/>
            <a:ext cx="24688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C34"/>
                </a:solidFill>
              </a:defRPr>
            </a:lvl1pPr>
          </a:lstStyle>
          <a:p>
            <a:pPr/>
            <a:r>
              <a:t>Implementation clients</a:t>
            </a:r>
          </a:p>
        </p:txBody>
      </p:sp>
      <p:sp>
        <p:nvSpPr>
          <p:cNvPr id="275" name="Text 39"/>
          <p:cNvSpPr txBox="1"/>
          <p:nvPr/>
        </p:nvSpPr>
        <p:spPr>
          <a:xfrm>
            <a:off x="3337560" y="4437634"/>
            <a:ext cx="10058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A3C3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76" name="Text 40"/>
          <p:cNvSpPr txBox="1"/>
          <p:nvPr/>
        </p:nvSpPr>
        <p:spPr>
          <a:xfrm>
            <a:off x="4526279" y="4479851"/>
            <a:ext cx="822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5A55A"/>
                </a:solidFill>
              </a:defRPr>
            </a:lvl1pPr>
          </a:lstStyle>
          <a:p>
            <a:pPr/>
            <a:r>
              <a:t>33%</a:t>
            </a:r>
          </a:p>
        </p:txBody>
      </p:sp>
      <p:sp>
        <p:nvSpPr>
          <p:cNvPr id="277" name="Text 41"/>
          <p:cNvSpPr txBox="1"/>
          <p:nvPr/>
        </p:nvSpPr>
        <p:spPr>
          <a:xfrm>
            <a:off x="5532120" y="4489748"/>
            <a:ext cx="2834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7A8B7A"/>
                </a:solidFill>
              </a:defRPr>
            </a:lvl1pPr>
          </a:lstStyle>
          <a:p>
            <a:pPr/>
            <a:r>
              <a:t>Highest value, ongoing AUM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 txBox="1"/>
          <p:nvPr/>
        </p:nvSpPr>
        <p:spPr>
          <a:xfrm>
            <a:off x="777240" y="401320"/>
            <a:ext cx="75895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14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KEY RISKS</a:t>
            </a:r>
          </a:p>
        </p:txBody>
      </p:sp>
      <p:sp>
        <p:nvSpPr>
          <p:cNvPr id="280" name="Shape 1"/>
          <p:cNvSpPr/>
          <p:nvPr/>
        </p:nvSpPr>
        <p:spPr>
          <a:xfrm>
            <a:off x="731519" y="804672"/>
            <a:ext cx="2743201" cy="27433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2"/>
          <p:cNvSpPr/>
          <p:nvPr/>
        </p:nvSpPr>
        <p:spPr>
          <a:xfrm>
            <a:off x="548640" y="1051560"/>
            <a:ext cx="8046719" cy="65836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Shape 3"/>
          <p:cNvSpPr/>
          <p:nvPr/>
        </p:nvSpPr>
        <p:spPr>
          <a:xfrm>
            <a:off x="548640" y="1051560"/>
            <a:ext cx="54865" cy="658369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4"/>
          <p:cNvSpPr txBox="1"/>
          <p:nvPr/>
        </p:nvSpPr>
        <p:spPr>
          <a:xfrm>
            <a:off x="822960" y="1081532"/>
            <a:ext cx="26517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Brand becomes too serious</a:t>
            </a:r>
          </a:p>
        </p:txBody>
      </p:sp>
      <p:sp>
        <p:nvSpPr>
          <p:cNvPr id="284" name="Text 5"/>
          <p:cNvSpPr txBox="1"/>
          <p:nvPr/>
        </p:nvSpPr>
        <p:spPr>
          <a:xfrm>
            <a:off x="822960" y="1386762"/>
            <a:ext cx="74980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Preserve warmth, aspiration, emotional permission. Yes Lifers is not a traditional planning firm.</a:t>
            </a:r>
          </a:p>
        </p:txBody>
      </p:sp>
      <p:sp>
        <p:nvSpPr>
          <p:cNvPr id="285" name="Shape 6"/>
          <p:cNvSpPr/>
          <p:nvPr/>
        </p:nvSpPr>
        <p:spPr>
          <a:xfrm>
            <a:off x="548640" y="1828800"/>
            <a:ext cx="8046719" cy="65836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Shape 7"/>
          <p:cNvSpPr/>
          <p:nvPr/>
        </p:nvSpPr>
        <p:spPr>
          <a:xfrm>
            <a:off x="548640" y="1828800"/>
            <a:ext cx="54865" cy="658369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8"/>
          <p:cNvSpPr txBox="1"/>
          <p:nvPr/>
        </p:nvSpPr>
        <p:spPr>
          <a:xfrm>
            <a:off x="822960" y="1769872"/>
            <a:ext cx="26517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Community energy weakens with older cohort</a:t>
            </a:r>
          </a:p>
        </p:txBody>
      </p:sp>
      <p:sp>
        <p:nvSpPr>
          <p:cNvPr id="288" name="Text 9"/>
          <p:cNvSpPr txBox="1"/>
          <p:nvPr/>
        </p:nvSpPr>
        <p:spPr>
          <a:xfrm>
            <a:off x="822960" y="2164002"/>
            <a:ext cx="74980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Guided prompts, small pods, structured rituals, founder-led tone-setting.</a:t>
            </a:r>
          </a:p>
        </p:txBody>
      </p:sp>
      <p:sp>
        <p:nvSpPr>
          <p:cNvPr id="289" name="Shape 10"/>
          <p:cNvSpPr/>
          <p:nvPr/>
        </p:nvSpPr>
        <p:spPr>
          <a:xfrm>
            <a:off x="548640" y="2606039"/>
            <a:ext cx="8046719" cy="65836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Shape 11"/>
          <p:cNvSpPr/>
          <p:nvPr/>
        </p:nvSpPr>
        <p:spPr>
          <a:xfrm>
            <a:off x="548640" y="2606039"/>
            <a:ext cx="54865" cy="658369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2"/>
          <p:cNvSpPr txBox="1"/>
          <p:nvPr/>
        </p:nvSpPr>
        <p:spPr>
          <a:xfrm>
            <a:off x="822960" y="2636012"/>
            <a:ext cx="26517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Segment drifts too broad</a:t>
            </a:r>
          </a:p>
        </p:txBody>
      </p:sp>
      <p:sp>
        <p:nvSpPr>
          <p:cNvPr id="292" name="Text 13"/>
          <p:cNvSpPr txBox="1"/>
          <p:nvPr/>
        </p:nvSpPr>
        <p:spPr>
          <a:xfrm>
            <a:off x="822960" y="2941242"/>
            <a:ext cx="74980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Keep focused: late-30s to late-40s, teenage/near-teen children. "Parents" is not the shorthand.</a:t>
            </a:r>
          </a:p>
        </p:txBody>
      </p:sp>
      <p:sp>
        <p:nvSpPr>
          <p:cNvPr id="293" name="Shape 14"/>
          <p:cNvSpPr/>
          <p:nvPr/>
        </p:nvSpPr>
        <p:spPr>
          <a:xfrm>
            <a:off x="548640" y="3383279"/>
            <a:ext cx="8046719" cy="65836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" name="Shape 15"/>
          <p:cNvSpPr/>
          <p:nvPr/>
        </p:nvSpPr>
        <p:spPr>
          <a:xfrm>
            <a:off x="548640" y="3383279"/>
            <a:ext cx="54865" cy="658369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16"/>
          <p:cNvSpPr txBox="1"/>
          <p:nvPr/>
        </p:nvSpPr>
        <p:spPr>
          <a:xfrm>
            <a:off x="822960" y="3413251"/>
            <a:ext cx="26517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Founder burnout</a:t>
            </a:r>
          </a:p>
        </p:txBody>
      </p:sp>
      <p:sp>
        <p:nvSpPr>
          <p:cNvPr id="296" name="Text 17"/>
          <p:cNvSpPr txBox="1"/>
          <p:nvPr/>
        </p:nvSpPr>
        <p:spPr>
          <a:xfrm>
            <a:off x="822960" y="3718482"/>
            <a:ext cx="74980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8-10 hrs/week budget. Community manager by Week 5. Batch content. Delegate pods by Month 4.</a:t>
            </a:r>
          </a:p>
        </p:txBody>
      </p:sp>
      <p:sp>
        <p:nvSpPr>
          <p:cNvPr id="297" name="Shape 18"/>
          <p:cNvSpPr/>
          <p:nvPr/>
        </p:nvSpPr>
        <p:spPr>
          <a:xfrm>
            <a:off x="548640" y="4160520"/>
            <a:ext cx="8046719" cy="658369"/>
          </a:xfrm>
          <a:prstGeom prst="rect">
            <a:avLst/>
          </a:prstGeom>
          <a:solidFill>
            <a:srgbClr val="2A5C4E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Shape 19"/>
          <p:cNvSpPr/>
          <p:nvPr/>
        </p:nvSpPr>
        <p:spPr>
          <a:xfrm>
            <a:off x="548640" y="4160520"/>
            <a:ext cx="54865" cy="658369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20"/>
          <p:cNvSpPr txBox="1"/>
          <p:nvPr/>
        </p:nvSpPr>
        <p:spPr>
          <a:xfrm>
            <a:off x="822960" y="4190491"/>
            <a:ext cx="26517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Compliance violation</a:t>
            </a:r>
          </a:p>
        </p:txBody>
      </p:sp>
      <p:sp>
        <p:nvSpPr>
          <p:cNvPr id="300" name="Text 21"/>
          <p:cNvSpPr txBox="1"/>
          <p:nvPr/>
        </p:nvSpPr>
        <p:spPr>
          <a:xfrm>
            <a:off x="822960" y="4495722"/>
            <a:ext cx="74980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AF8F0"/>
                </a:solidFill>
              </a:defRPr>
            </a:lvl1pPr>
          </a:lstStyle>
          <a:p>
            <a:pPr/>
            <a:r>
              <a:t>Pre-publication checklist. Education/advice boundary enforced. External advisor quarterly.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1"/>
          <p:cNvSpPr txBox="1"/>
          <p:nvPr/>
        </p:nvSpPr>
        <p:spPr>
          <a:xfrm>
            <a:off x="777240" y="1488440"/>
            <a:ext cx="75895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8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wedge is where we prove the model.</a:t>
            </a:r>
          </a:p>
        </p:txBody>
      </p:sp>
      <p:sp>
        <p:nvSpPr>
          <p:cNvPr id="304" name="Text 2"/>
          <p:cNvSpPr txBox="1"/>
          <p:nvPr/>
        </p:nvSpPr>
        <p:spPr>
          <a:xfrm>
            <a:off x="777240" y="2442780"/>
            <a:ext cx="7589520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FAF8F0"/>
                </a:solidFill>
              </a:defRPr>
            </a:pPr>
            <a:r>
              <a:t>Every community ritual, every content piece, every app onboarding decision in Phase 0 and Phase 1 is optimised for this segment.</a:t>
            </a:r>
          </a:p>
          <a:p>
            <a:pPr>
              <a:defRPr sz="1400"/>
            </a:pPr>
          </a:p>
          <a:p>
            <a:pPr>
              <a:defRPr i="1" sz="1400">
                <a:solidFill>
                  <a:srgbClr val="7A8B7A"/>
                </a:solidFill>
              </a:defRPr>
            </a:pPr>
            <a:r>
              <a:t>The broader audience comes in Phase 2 and beyond.</a:t>
            </a:r>
          </a:p>
        </p:txBody>
      </p:sp>
      <p:sp>
        <p:nvSpPr>
          <p:cNvPr id="305" name="Text 3"/>
          <p:cNvSpPr txBox="1"/>
          <p:nvPr/>
        </p:nvSpPr>
        <p:spPr>
          <a:xfrm>
            <a:off x="777240" y="4121149"/>
            <a:ext cx="75895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500">
                <a:solidFill>
                  <a:srgbClr val="C5A5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 tribe. Earn the trust. Hand them the tool. Let them tell the story.</a:t>
            </a:r>
          </a:p>
        </p:txBody>
      </p:sp>
      <p:sp>
        <p:nvSpPr>
          <p:cNvPr id="306" name="Shape 4"/>
          <p:cNvSpPr/>
          <p:nvPr/>
        </p:nvSpPr>
        <p:spPr>
          <a:xfrm>
            <a:off x="0" y="5088635"/>
            <a:ext cx="9144000" cy="54865"/>
          </a:xfrm>
          <a:prstGeom prst="rect">
            <a:avLst/>
          </a:prstGeom>
          <a:solidFill>
            <a:srgbClr val="C5A5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